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🎋 BAMBOO GAME ENGINE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</a:defRPr>
            </a:pPr>
            <a:r>
              <a:t>Kế Hoạch Roadmap Chiến Lược Q4/2026</a:t>
            </a:r>
          </a:p>
          <a:p>
            <a:pPr>
              <a:spcBef>
                <a:spcPts val="400"/>
              </a:spcBef>
              <a:defRPr sz="1600">
                <a:solidFill>
                  <a:srgbClr val="14B8A6"/>
                </a:solidFill>
              </a:defRPr>
            </a:pPr>
            <a:r>
              <a:t>Giai đoạn Nền Móng (Foundation) • Mục tiêu Bản phát hành v0.1.0 'Sprout'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Thời gian: 12/10/2026 – 31/12/2026 (12 tuần)  |  Upstream Base: Godot 4.8.dev @ c24bf5d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2651760" cy="1188720"/>
          </a:xfrm>
          <a:prstGeom prst="roundRect">
            <a:avLst/>
          </a:prstGeom>
          <a:solidFill>
            <a:srgbClr val="28354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4251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6 / 6 NỀN TẢNG CI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Win, macOS, Linux, Android, iOS, Web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4114800"/>
            <a:ext cx="2651760" cy="1188720"/>
          </a:xfrm>
          <a:prstGeom prst="roundRect">
            <a:avLst/>
          </a:prstGeom>
          <a:solidFill>
            <a:srgbClr val="28354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4251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PORT GAME UNITY3D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Chuyển đổi ≥ 1 game chạy PC + Android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114800"/>
            <a:ext cx="2651760" cy="1188720"/>
          </a:xfrm>
          <a:prstGeom prst="roundRect">
            <a:avLst/>
          </a:prstGeom>
          <a:solidFill>
            <a:srgbClr val="28354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18120" y="425196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18/12/2026 GA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Bản phát hành chính thức 0.1.0 Sprout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BAMBOO ENGINE • Q4/2026 MASTER PLAN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Roadmap Tổng Quan Giai Đoạn Nền Móng (Foundation)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Thời gian: 12/10/2026 – 31/12/2026 (12 tuần)  •  Mục tiêu cuối quý: Bamboo 0.1.0 'Sprout'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31089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O1 • Fork Ổn Định &amp; Rebranding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CI Editor &amp; Templates 6/6 nền tảng; tích hợp logo/icon Bamboo.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572768"/>
            <a:ext cx="31089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4B8A6"/>
                </a:solidFill>
              </a:defRPr>
            </a:pPr>
            <a:r>
              <a:t>O2 • Đo Lường Hiệu Năng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Benchmark suite nightly ≥ 6 kịch bản; golden image 3 renderer.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572768"/>
            <a:ext cx="31089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O3 • Quy Chuẩn Kỹ Thuật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Diễn tập rebase master; repo bamboo_modules; 100% // BAMBOO: 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33832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990088"/>
            <a:ext cx="31089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855F7"/>
                </a:solidFill>
              </a:defRPr>
            </a:pPr>
            <a:r>
              <a:t>O4 • Cấu Hình Mặc Định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Jolt Physics mặc định; 3 build profile (2D, Mobile, PC) tinh gọn.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880360"/>
            <a:ext cx="33832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990088"/>
            <a:ext cx="31089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O5 • Dogfooding Thực Chiến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Đội game kiểm thử engine, đo độ ổn định, thu thập crash &amp; bug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880360"/>
            <a:ext cx="3383280" cy="1234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2990088"/>
            <a:ext cx="310896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O6 • Port Game Unity3D → Bamboo</a:t>
            </a:r>
          </a:p>
          <a:p>
            <a:pPr>
              <a:spcBef>
                <a:spcPts val="300"/>
              </a:spcBef>
              <a:defRPr sz="1050">
                <a:solidFill>
                  <a:srgbClr val="94A3B8"/>
                </a:solidFill>
              </a:defRPr>
            </a:pPr>
            <a:r>
              <a:t>Thiết lập pipeline di chuyển; port hoàn chỉnh ≥ 1 game chạy PC + Android.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43400"/>
            <a:ext cx="2066543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34840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W1–W2 (12-23/10)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Khởi Động &amp; CI Desktop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• Branching &amp; dev env</a:t>
            </a:r>
            <a:br/>
            <a:r>
              <a:t>• Khảo sát game Unity</a:t>
            </a:r>
            <a:br/>
            <a:r>
              <a:t>• CI Win/Mac/Linux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★ 0.1.0-alpha.1 (23/10)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89503" y="4343400"/>
            <a:ext cx="2066543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1" y="4434840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W3–W4 (26/10-6/11)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CI Mobile &amp; Benchmark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• CI Android, iOS, Web</a:t>
            </a:r>
            <a:br/>
            <a:r>
              <a:t>• Spec pipeline port Unity</a:t>
            </a:r>
            <a:br/>
            <a:r>
              <a:t>• Golden image CI</a:t>
            </a:r>
          </a:p>
          <a:p>
            <a:pPr>
              <a:spcBef>
                <a:spcPts val="600"/>
              </a:spcBef>
              <a:defRPr sz="950" b="1">
                <a:solidFill>
                  <a:srgbClr val="14B8A6"/>
                </a:solidFill>
              </a:defRPr>
            </a:pPr>
            <a:r>
              <a:t>★ 0.1.0-alpha.2 (06/11)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7486" y="4343400"/>
            <a:ext cx="2066543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57214" y="4434840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W5–W6 (09-20/11)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Upstream &amp; Porting v1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• Diễn tập rebase master</a:t>
            </a:r>
            <a:br/>
            <a:r>
              <a:t>• Chuyển đổi asset Unity</a:t>
            </a:r>
            <a:br/>
            <a:r>
              <a:t>• Jolt Physics default</a:t>
            </a:r>
          </a:p>
          <a:p>
            <a:pPr>
              <a:spcBef>
                <a:spcPts val="600"/>
              </a:spcBef>
              <a:defRPr sz="950" b="1">
                <a:solidFill>
                  <a:srgbClr val="06B6D4"/>
                </a:solidFill>
              </a:defRPr>
            </a:pPr>
            <a:r>
              <a:t>★ 0.1.0-alpha.3 (20/11)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469" y="4343400"/>
            <a:ext cx="2066543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197" y="4434840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W7–W8 (23/11-4/12)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Hoàn Tất Port &amp; Freeze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• Game Unity chạy PC/Andr</a:t>
            </a:r>
            <a:br/>
            <a:r>
              <a:t>• Branch release/0.1</a:t>
            </a:r>
            <a:br/>
            <a:r>
              <a:t>• Bug bash toàn đội</a:t>
            </a:r>
          </a:p>
          <a:p>
            <a:pPr>
              <a:spcBef>
                <a:spcPts val="600"/>
              </a:spcBef>
              <a:defRPr sz="950" b="1">
                <a:solidFill>
                  <a:srgbClr val="F59E0B"/>
                </a:solidFill>
              </a:defRPr>
            </a:pPr>
            <a:r>
              <a:t>★ 0.1.0-beta.1 (04/12)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63452" y="4343400"/>
            <a:ext cx="2066543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73180" y="4434840"/>
            <a:ext cx="184708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W9–W10 (07-18/12)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Ổn Định &amp; GA Release</a:t>
            </a:r>
          </a:p>
          <a:p>
            <a:pPr>
              <a:spcBef>
                <a:spcPts val="400"/>
              </a:spcBef>
              <a:defRPr sz="950">
                <a:solidFill>
                  <a:srgbClr val="94A3B8"/>
                </a:solidFill>
              </a:defRPr>
            </a:pPr>
            <a:r>
              <a:t>• Tối ưu game đã port</a:t>
            </a:r>
            <a:br/>
            <a:r>
              <a:t>• RC.1 regression (15/12)</a:t>
            </a:r>
            <a:br/>
            <a:r>
              <a:t>• Go/No-go meeting</a:t>
            </a:r>
          </a:p>
          <a:p>
            <a:pPr>
              <a:spcBef>
                <a:spcPts val="600"/>
              </a:spcBef>
              <a:defRPr sz="950" b="1">
                <a:solidFill>
                  <a:srgbClr val="10B981"/>
                </a:solidFill>
              </a:defRPr>
            </a:pPr>
            <a:r>
              <a:t>★ 0.1.0 Sprout (18/12)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94A3B8"/>
                </a:solidFill>
              </a:defRPr>
            </a:pPr>
            <a:r>
              <a:t>* W11–W12 (21–31/12): Kỳ nghỉ lễ cuối năm, trực lỗi on-call 0.1.0, nghiệm thu KPI và lập kế hoạch Q1/2027 (Mobile &amp; Performance 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BAMBOO ENGINE • KẾ HOẠCH TUẦN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Bảng Phân Bổ Công Việc Chi Tiết 12 Tuần (W1 – W12)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Phân công theo vai trò: TL (Lead), BQ (Build/QA), RND (Render), RT (Runtime), PLT (Platform), TLS (Tools), GAME (Dogfood/Porting)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097280"/>
                <a:gridCol w="4663440"/>
                <a:gridCol w="1005840"/>
                <a:gridCol w="2011680"/>
                <a:gridCol w="1310335"/>
              </a:tblGrid>
              <a:tr h="372793">
                <a:tc>
                  <a:txBody>
                    <a:bodyPr lIns="73152" tIns="54864"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Tuần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 lIns="73152" tIns="54864"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Thời gian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 lIns="73152" tIns="54864"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Nội dung công việc cốt lõi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 lIns="73152" tIns="54864"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Owner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 lIns="73152" tIns="54864"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Sản phẩm đầu ra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  <a:tc>
                  <a:txBody>
                    <a:bodyPr lIns="73152" tIns="54864"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Mốc phát hành</a:t>
                      </a:r>
                    </a:p>
                  </a:txBody>
                  <a:tcPr>
                    <a:solidFill>
                      <a:srgbClr val="28354C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12–16/10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Commit Phase 1–5; setup branching; khảo sát game Unity nội bộ cần port; lập danh mục asset/script; brief logo.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TL, GAME, PLT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Danh sách phân tích port Unity; triage board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19–23/10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CI Win/Linux/Mac (editor + templates); tắt update Godot; đóng gói template .tpz; smoke test.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TL, BQ, TLS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Workflow CI desktop, file .tpz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0.1.0-alpha.1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26–30/10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CI Mobile &amp; Web; thiết kế benchmark suite &amp; pipeline import/convert asset từ Unity3D sang Bamboo.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PLT, BQ, GAME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CI Mobile/Web xanh, spec porting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W4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02–06/11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Hiện thực repo bamboo-benchmarks (--headless/JSON); nightly CI job; golden image v1; bắt đầu convert asset Unity.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RT, RND, GAME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Repo benchmarks, asset pipeline v1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0.1.0-alpha.2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09–13/11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Script kiểm kê // BAMBOO:; diễn tập rebase Godot master; repo bamboo_modules; ánh xạ script/logic Unity sang Bamboo.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TL, RT, GAME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Báo cáo rebase, core logic ported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W6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16–20/11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Jolt Physics mặc định; hoàn thiện 3 build profiles; ghép scene &amp; ánh xạ component game Unity sang Bamboo.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RT, BQ, GAME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 build profiles, project game ghép xong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0.1.0-alpha.3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23–27/11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Dogfooding: Hoàn tất port game Unity nội bộ chạy mượt mà trên PC + Android; đo FPS/RAM đối chuẩn; thu crash log.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GAME, PLT, BQ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Build game chạy thực tế, issue backlog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W8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30/11–4/12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Feature freeze 0.1; tạo nhánh release/0.1; Bug bash toàn đội (2 ngày); công bố báo cáo baseline hiệu năng &amp; so sánh Unity.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TL, BQ, ALL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Nhánh release, báo cáo baseline &amp; parity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0.1.0-beta.1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07–11/12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Triệt tiêu lỗi P0/P1; tối ưu hóa bản build game đã port; update localization; đóng gói (.dmg notarized, .zip, .tpz).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ALL, TLS, BQ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 bug P0, gói cài đặt hoàn chỉnh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W10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14–18/12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0.1.0-rc.1 (15/12); Go/No-go meeting (17/12); Phát hành chính thức Bamboo 0.1.0 Sprout (18/12).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TL, BQ, ALL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Bản phát hành chính thức 0.1.0 + Game demo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0.1.0 Sprout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  <a:tr h="372793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21–25/12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Nghỉ lễ cuối năm (giảm tải); On-call trực lỗi cho 0.1.0; Grooming backlog Q1/2027.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BQ, TL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On-call log, Backlog Q1/2027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72804"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</a:defRPr>
                      </a:pPr>
                      <a:r>
                        <a:t>W12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28–31/12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Nghiệm thu toàn bộ KPI Q4; Hotfix 0.1.1 (nếu cần); Chốt kế hoạch tuần đầu Q1/2027.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TL, BQ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</a:defRPr>
                      </a:pPr>
                      <a:r>
                        <a:t>Báo cáo KPI Q4, Kế hoạch Q1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  <a:tc>
                  <a:txBody>
                    <a:bodyPr lIns="73152" tIns="36576"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</a:defRPr>
                      </a:pPr>
                      <a:r>
                        <a:t>0.1.1 (nếu cần)</a:t>
                      </a:r>
                    </a:p>
                  </a:txBody>
                  <a:tcPr>
                    <a:solidFill>
                      <a:srgbClr val="1620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BAMBOO ENGINE • CHIẾN LƯỢC KỸ THUẬT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Chính Sách Phiên Bản &amp; Pipeline Port Game Unity3D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Duy trì tương thích hệ sinh thái Godot đồng thời thiết lập giải pháp di chuyển sản phẩm từ Unity3D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🏷️ NGUYÊN TẮC DUAL-VERSIONING</a:t>
            </a:r>
          </a:p>
          <a:p>
            <a:pPr>
              <a:spcBef>
                <a:spcPts val="800"/>
              </a:spcBef>
              <a:defRPr sz="1100" b="1">
                <a:solidFill>
                  <a:srgbClr val="14B8A6"/>
                </a:solidFill>
              </a:defRPr>
            </a:pPr>
            <a:r>
              <a:t>• Tại sao phải giữ 2 số phiên bản?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Nếu đổi version Godot 4.8 thành 0.1, toàn bộ plugin GDExtension (godot-cpp, Rust) sẽ bị từ chối nạp, project tag bị cảnh báo, và export template bị lỗi đường dẫn.</a:t>
            </a:r>
          </a:p>
          <a:p>
            <a:pPr>
              <a:spcBef>
                <a:spcPts val="800"/>
              </a:spcBef>
              <a:defRPr sz="1100" b="1">
                <a:solidFill>
                  <a:srgbClr val="14B8A6"/>
                </a:solidFill>
              </a:defRPr>
            </a:pPr>
            <a:r>
              <a:t>• Định danh sản phẩm Bamboo: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Bamboo v0.1.0-alpha.1 (Codename: Sprout). Tăng MINOR theo quý, PATCH sửa lỗi. Quản lý qua các biến bamboo_* trong version.py.</a:t>
            </a:r>
          </a:p>
          <a:p>
            <a:pPr>
              <a:spcBef>
                <a:spcPts val="800"/>
              </a:spcBef>
              <a:defRPr sz="1100" b="1">
                <a:solidFill>
                  <a:srgbClr val="14B8A6"/>
                </a:solidFill>
              </a:defRPr>
            </a:pPr>
            <a:r>
              <a:t>• Upstream Base: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Godot 4.8.dev @ commit c24bf5d933. Giữ nguyên major/minor/patch gốc để giữ ABI compatibility.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14B8A6"/>
                </a:solidFill>
              </a:defRPr>
            </a:pPr>
            <a:r>
              <a:t>• Chuỗi hiển thị đồng bộ: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'Bamboo Engine v0.1.0-alpha.1 (Godot 4.8.dev.custom_build)' hiển thị tại splash header, About dialog, status bar, và crash reports.</a:t>
            </a:r>
          </a:p>
          <a:p>
            <a:pPr>
              <a:spcBef>
                <a:spcPts val="800"/>
              </a:spcBef>
              <a:defRPr sz="1100" b="1">
                <a:solidFill>
                  <a:srgbClr val="14B8A6"/>
                </a:solidFill>
              </a:defRPr>
            </a:pPr>
            <a:r>
              <a:t>• Lộ trình Codename: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0.1 Sprout (Măng) → 0.2 Shoot → 0.3 Culm → 0.4 Node → 1.0 Grove (LTS).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🎮 CHIẾN LƯỢC PORT GAME UNITY3D SANG BAMBOO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• Chuyển đổi Asset &amp; Prefabs: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Ánh xạ Prefab/Prefab Variant của Unity sang PackedScene (.tscn) phân tầng; chuyển đổi Materials/Textures sang StandardMaterial3D/ShaderMaterial.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• Ánh xạ Cấu trúc Script &amp; Logic: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Chuyển MonoBehaviour C# sang GDScript / C# Node scripts; thay thế UnityEvent/Action bằng hệ thống Signal / Callable của Bamboo.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• Mô phỏng Vật lý &amp; Transform: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Ánh xạ Rigidbody và Collider của Unity sang RigidBody3D + CollisionShape3D được tăng tốc bởi Jolt Physics mặc định.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• Bộ công cụ &amp; Hướng dẫn Migration: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Xây dựng tài liệu cheat-sheet 'Unity to Bamboo API Mapping' và script hỗ trợ batch-import tài nguyên 3D (FBX/glTF).</a:t>
            </a:r>
          </a:p>
          <a:p>
            <a:pPr>
              <a:spcBef>
                <a:spcPts val="800"/>
              </a:spcBef>
              <a:defRPr sz="1100" b="1">
                <a:solidFill>
                  <a:srgbClr val="F59E0B"/>
                </a:solidFill>
              </a:defRPr>
            </a:pPr>
            <a:r>
              <a:t>• Đối chuẩn Hiệu năng Thực tế: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Đo đạc và so sánh FPS, Draw Calls, thời gian load và mức tiêu thụ RAM giữa bản gốc Unity và bản chạy trên Bamboo (PC + Android).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BAMBOO ENGINE • KIỂM SOÁT CHẤT LƯỢNG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Chỉ Số Đo Lường KPI &amp; Ma Trận Quản Trị Rủi Ro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Tiêu chuẩn nghiệm thu cuối Q4/2026 đảm bảo độ tin cậy khi chuyển giao cho dự án nội bộ và đối tác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📊 BẢNG CHỈ SỐ KPI NGHIỆM THU (EXIT CRITERIA)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Nền tảng build xanh trên CI: 6 / 6 (Win, macOS, Linux, Android, iOS, Web)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Kịch bản benchmark có baseline: ≥ 6 (Draw call, physics, script, memory...)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Golden-image rendering test: 3 renderer (Forward+, Mobile, Compatibility (≥10 scene))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Thời gian CI build Editor (có cache): ≤ 20 phút (SCons cache bảo đảm chu kỳ dev nhanh)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Game Unity3D nội bộ port thành công: ≥ 1 game (Chạy mượt mà trên PC + Android)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Tài liệu hướng dẫn Migration Unity: Hoàn thành (API mapping cheat-sheet &amp; asset workflow)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Quy chuẩn patch mã nguồn lõi: 100% (Gắn thẻ // BAMBOO: chuẩn xác)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Diễn tập rebase upstream: ≥ 1 lần (Có biên bản đánh giá xung đột)</a:t>
            </a:r>
          </a:p>
          <a:p>
            <a:pPr>
              <a:spcBef>
                <a:spcPts val="500"/>
              </a:spcBef>
              <a:defRPr sz="1000">
                <a:solidFill>
                  <a:srgbClr val="F8FAFC"/>
                </a:solidFill>
              </a:defRPr>
            </a:pPr>
            <a:r>
              <a:t>• Lỗi P0 tại thời điểm phát hành GA: 0 P0 (Cam kết ổn định tuyệt đối cho bản 0.1.0)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🛡️ MA TRẬN RỦI RO &amp; PHƯƠNG ÁN GIẢM THIỂU</a:t>
            </a:r>
          </a:p>
          <a:p>
            <a:pPr>
              <a:spcBef>
                <a:spcPts val="700"/>
              </a:spcBef>
              <a:defRPr sz="1050" b="1">
                <a:solidFill>
                  <a:srgbClr val="F87171"/>
                </a:solidFill>
              </a:defRPr>
            </a:pPr>
            <a:r>
              <a:t>⚠️ CI Runner thiếu GPU thật [Xác suất/Tác động: Cao / TB]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↳ Giải pháp: Dùng lavapipe/llvmpipe trên Linux; runner macOS dùng Metal; áp dụng ngưỡng sai số ảnh.</a:t>
            </a:r>
          </a:p>
          <a:p>
            <a:pPr>
              <a:spcBef>
                <a:spcPts val="700"/>
              </a:spcBef>
              <a:defRPr sz="1050" b="1">
                <a:solidFill>
                  <a:srgbClr val="F87171"/>
                </a:solidFill>
              </a:defRPr>
            </a:pPr>
            <a:r>
              <a:t>⚠️ Rebase upstream xung đột lớn [Xác suất/Tác động: TB / TB]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↳ Giải pháp: Diễn tập sớm tại W5; giữ patch lõi nhỏ; chuyển tính năng sang repo bamboo_modules.</a:t>
            </a:r>
          </a:p>
          <a:p>
            <a:pPr>
              <a:spcBef>
                <a:spcPts val="700"/>
              </a:spcBef>
              <a:defRPr sz="1050" b="1">
                <a:solidFill>
                  <a:srgbClr val="F87171"/>
                </a:solidFill>
              </a:defRPr>
            </a:pPr>
            <a:r>
              <a:t>⚠️ Khác biệt kiến trúc Unity vs Bamboo [Xác suất/Tác động: Cao / TB]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↳ Giải pháp: Chọn game scope vừa phải (2D/3D mid-core); lập API mapping cheatsheet; dùng pipeline FBX/glTF chuẩn.</a:t>
            </a:r>
          </a:p>
          <a:p>
            <a:pPr>
              <a:spcBef>
                <a:spcPts val="700"/>
              </a:spcBef>
              <a:defRPr sz="1050" b="1">
                <a:solidFill>
                  <a:srgbClr val="F87171"/>
                </a:solidFill>
              </a:defRPr>
            </a:pPr>
            <a:r>
              <a:t>⚠️ Chậm tiến độ thiết kế logo [Xác suất/Tác động: TB / Thấp]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↳ Giải pháp: Dùng logo tạm có typo 'Bamboo' cho alpha/beta; thay bản chính thức ở 0.1.0 hoặc 0.1.1.</a:t>
            </a:r>
          </a:p>
          <a:p>
            <a:pPr>
              <a:spcBef>
                <a:spcPts val="700"/>
              </a:spcBef>
              <a:defRPr sz="1050" b="1">
                <a:solidFill>
                  <a:srgbClr val="F87171"/>
                </a:solidFill>
              </a:defRPr>
            </a:pPr>
            <a:r>
              <a:t>⚠️ Thiếu người dịp nghỉ lễ cuối năm [Xác suất/Tác động: Cao / Thấp]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   ↳ Giải pháp: Khóa phát hành 0.1.0 trước 18/12 (W10); W11-W12 chỉ duy trì trực on-call và grooming.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